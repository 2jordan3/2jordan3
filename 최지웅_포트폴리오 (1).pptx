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6" r:id="rId2"/>
    <p:sldId id="265" r:id="rId3"/>
    <p:sldId id="263" r:id="rId4"/>
    <p:sldId id="259" r:id="rId5"/>
    <p:sldId id="267" r:id="rId6"/>
    <p:sldId id="264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10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369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45090-3908-C6C1-B73E-45A7ACA39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AD6112-63CF-F60C-DCA6-D51CE3FFD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74577-B972-3049-6973-420D4253B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B59CF-715E-6744-CF61-30113C0393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84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658368" y="841248"/>
            <a:ext cx="73152" cy="48920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32688" y="167739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 ENGINEER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최지웅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909560" y="132588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키워드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82128" y="1600200"/>
            <a:ext cx="3474720" cy="0"/>
          </a:xfrm>
          <a:prstGeom prst="line">
            <a:avLst/>
          </a:prstGeom>
          <a:noFill/>
          <a:ln w="12700">
            <a:solidFill>
              <a:srgbClr val="253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936992" y="1920240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138160" y="18745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132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기반 구축</a:t>
            </a:r>
            <a:endParaRPr lang="en-US" altLang="ko-KR" sz="132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936992" y="2578608"/>
            <a:ext cx="91440" cy="91440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138160" y="25328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20" dirty="0">
                <a:solidFill>
                  <a:srgbClr val="D9E2F0"/>
                </a:solidFill>
                <a:latin typeface="Noto Sans CJK KR" pitchFamily="34" charset="0"/>
              </a:rPr>
              <a:t>성능개선</a:t>
            </a:r>
            <a:endParaRPr lang="en-US" altLang="ko-KR" sz="1320" dirty="0">
              <a:solidFill>
                <a:srgbClr val="D9E2F0"/>
              </a:solidFill>
              <a:latin typeface="Noto Sans CJK KR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936992" y="3236976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138160" y="31912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2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 개선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1005840" y="5158865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choi.jordan23@gmail.com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5405753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github.com/2jordan3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499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914400" cy="54864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CAREER SNAPSHOT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경력 요약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87000" y="566928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Choi Ji Woong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A4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2016.05 - 2018.12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23957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휴맥스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12648" y="28163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ASP.NET / MSSQL</a:t>
            </a:r>
            <a:endParaRPr lang="en-US" sz="1210" dirty="0"/>
          </a:p>
          <a:p>
            <a:pPr marL="0" indent="0" algn="ctr">
              <a:buNone/>
            </a:pPr>
            <a:r>
              <a:rPr lang="en-US" sz="121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· 개발 · 개선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2697480" y="205740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A4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2019.01 - 2020.07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70048" y="23957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휴맥스아이티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24328" y="28163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Law.ai 고도화</a:t>
            </a:r>
            <a:endParaRPr lang="en-US" sz="1210" dirty="0"/>
          </a:p>
          <a:p>
            <a:pPr marL="0" indent="0" algn="ctr">
              <a:buNone/>
            </a:pPr>
            <a:r>
              <a:rPr lang="en-US" sz="121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Node.js / React 전환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4800600" y="205740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A4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2020.08 - 2024.09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73168" y="23957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엔씨소프트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27448" y="28163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CMS · HR · 구매</a:t>
            </a:r>
            <a:endParaRPr lang="en-US" sz="1210" dirty="0"/>
          </a:p>
          <a:p>
            <a:pPr marL="0" indent="0" algn="ctr">
              <a:buNone/>
            </a:pPr>
            <a:r>
              <a:rPr lang="en-US" sz="121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공통화 · 성능 개선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7086600" y="205740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A4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2024.10 - 현재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59168" y="2395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엔씨아이디에스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013448" y="28163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HR 리팩토링</a:t>
            </a:r>
            <a:endParaRPr lang="en-US" sz="1210" dirty="0"/>
          </a:p>
          <a:p>
            <a:pPr marL="0" indent="0" algn="ctr">
              <a:buNone/>
            </a:pPr>
            <a:r>
              <a:rPr lang="en-US" sz="121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기술부채 · 아이콘 개선</a:t>
            </a:r>
            <a:endParaRPr lang="en-US" sz="1210" dirty="0"/>
          </a:p>
        </p:txBody>
      </p:sp>
      <p:sp>
        <p:nvSpPr>
          <p:cNvPr id="20" name="Shape 18"/>
          <p:cNvSpPr/>
          <p:nvPr/>
        </p:nvSpPr>
        <p:spPr>
          <a:xfrm>
            <a:off x="1417320" y="3913632"/>
            <a:ext cx="6355080" cy="0"/>
          </a:xfrm>
          <a:prstGeom prst="line">
            <a:avLst/>
          </a:prstGeom>
          <a:noFill/>
          <a:ln w="12700">
            <a:solidFill>
              <a:srgbClr val="253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353312" y="3803904"/>
            <a:ext cx="219456" cy="21945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364992" y="3803904"/>
            <a:ext cx="219456" cy="219456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468112" y="3803904"/>
            <a:ext cx="219456" cy="21945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479792" y="3803904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144000" y="20116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포인트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0" y="2423160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316887" y="2330305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경험 기반의 현실적 개발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9144000" y="2999982"/>
            <a:ext cx="91440" cy="91440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316887" y="28977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공통화와 구조 개선 경험 축적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9144000" y="352044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335741" y="3408731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 시스템 도메인 적응력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914400" cy="54864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STRENGTHS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역량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87000" y="566928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Choi Ji Woong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566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D4B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254203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기반 구축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2697480" cy="0"/>
          </a:xfrm>
          <a:prstGeom prst="line">
            <a:avLst/>
          </a:prstGeom>
          <a:noFill/>
          <a:ln w="12700">
            <a:solidFill>
              <a:srgbClr val="253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32688" y="32461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컴포넌트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32688" y="3749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모노레포 환경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32688" y="42519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테스트 도입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4160520" y="1847088"/>
            <a:ext cx="566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160520" y="254203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 개선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160520" y="2880360"/>
            <a:ext cx="2697480" cy="0"/>
          </a:xfrm>
          <a:prstGeom prst="line">
            <a:avLst/>
          </a:prstGeom>
          <a:noFill/>
          <a:ln w="12700">
            <a:solidFill>
              <a:srgbClr val="253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160520" y="329184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361688" y="32461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HR 리팩토링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4160520" y="379476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361688" y="3749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라이브러리 기술부채 개선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4160520" y="429768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361688" y="42519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아이콘 체계 재설계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7589520" y="1847088"/>
            <a:ext cx="566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589520" y="254203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협업 실행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589520" y="2880360"/>
            <a:ext cx="2697480" cy="0"/>
          </a:xfrm>
          <a:prstGeom prst="line">
            <a:avLst/>
          </a:prstGeom>
          <a:noFill/>
          <a:ln w="12700">
            <a:solidFill>
              <a:srgbClr val="253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589520" y="3291840"/>
            <a:ext cx="91440" cy="91440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790688" y="32461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UI/UX·백엔드 협업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7589520" y="3794760"/>
            <a:ext cx="91440" cy="91440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790688" y="3749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요구사항 조율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7589520" y="4297680"/>
            <a:ext cx="91440" cy="91440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790688" y="42519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9E2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오픈까지 연결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731519" y="5532121"/>
            <a:ext cx="914399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4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 키워드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00200" y="544068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9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React/Next.js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673352" y="5669280"/>
            <a:ext cx="996696" cy="0"/>
          </a:xfrm>
          <a:prstGeom prst="line">
            <a:avLst/>
          </a:prstGeom>
          <a:noFill/>
          <a:ln w="12700">
            <a:solidFill>
              <a:srgbClr val="2B3B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2907792" y="54406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9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980944" y="5669280"/>
            <a:ext cx="768096" cy="0"/>
          </a:xfrm>
          <a:prstGeom prst="line">
            <a:avLst/>
          </a:prstGeom>
          <a:noFill/>
          <a:ln w="12700">
            <a:solidFill>
              <a:srgbClr val="2B3B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986784" y="54406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9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Monorepo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059936" y="5669280"/>
            <a:ext cx="768096" cy="0"/>
          </a:xfrm>
          <a:prstGeom prst="line">
            <a:avLst/>
          </a:prstGeom>
          <a:noFill/>
          <a:ln w="12700">
            <a:solidFill>
              <a:srgbClr val="2B3B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065776" y="54406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9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Playwright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138928" y="5669280"/>
            <a:ext cx="722376" cy="0"/>
          </a:xfrm>
          <a:prstGeom prst="line">
            <a:avLst/>
          </a:prstGeom>
          <a:noFill/>
          <a:ln w="12700">
            <a:solidFill>
              <a:srgbClr val="2B3B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099048" y="5440680"/>
            <a:ext cx="911352" cy="1395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9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72200" y="5669280"/>
            <a:ext cx="722376" cy="0"/>
          </a:xfrm>
          <a:prstGeom prst="line">
            <a:avLst/>
          </a:prstGeom>
          <a:noFill/>
          <a:ln w="12700">
            <a:solidFill>
              <a:srgbClr val="2B3B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7132320" y="5440680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9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Legacy Modernization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205472" y="5669280"/>
            <a:ext cx="1453896" cy="0"/>
          </a:xfrm>
          <a:prstGeom prst="line">
            <a:avLst/>
          </a:prstGeom>
          <a:noFill/>
          <a:ln w="12700">
            <a:solidFill>
              <a:srgbClr val="2B3B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914400" cy="54864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PROJECT HIGHLIGHT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4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React </a:t>
            </a:r>
            <a:r>
              <a:rPr lang="en-US" altLang="ko-KR" sz="2400" b="1" dirty="0" err="1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도입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332720" y="5669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Choi Ji Woong</a:t>
            </a:r>
            <a:endParaRPr lang="en-US" sz="9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1B956242-C4BB-AF0A-14C3-1CA1479D78C0}"/>
              </a:ext>
            </a:extLst>
          </p:cNvPr>
          <p:cNvSpPr/>
          <p:nvPr/>
        </p:nvSpPr>
        <p:spPr>
          <a:xfrm>
            <a:off x="983374" y="1869335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배경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ADDFF9CA-BBB2-31B5-761B-A4E736521201}"/>
              </a:ext>
            </a:extLst>
          </p:cNvPr>
          <p:cNvSpPr/>
          <p:nvPr/>
        </p:nvSpPr>
        <p:spPr>
          <a:xfrm>
            <a:off x="983374" y="2198519"/>
            <a:ext cx="251460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D1A0586F-9732-4096-84D0-F8DBD2E9B277}"/>
              </a:ext>
            </a:extLst>
          </p:cNvPr>
          <p:cNvSpPr/>
          <p:nvPr/>
        </p:nvSpPr>
        <p:spPr>
          <a:xfrm>
            <a:off x="983374" y="2431691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4E50322F-A7FF-9D0C-67B9-EE2579CA6E2B}"/>
              </a:ext>
            </a:extLst>
          </p:cNvPr>
          <p:cNvSpPr/>
          <p:nvPr/>
        </p:nvSpPr>
        <p:spPr>
          <a:xfrm>
            <a:off x="1166254" y="2381399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ChargeCode Management System 구축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EF5851AF-73F1-260B-563A-023FED57CFB9}"/>
              </a:ext>
            </a:extLst>
          </p:cNvPr>
          <p:cNvSpPr/>
          <p:nvPr/>
        </p:nvSpPr>
        <p:spPr>
          <a:xfrm>
            <a:off x="983374" y="2907179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8986EBD6-0ACC-2103-F488-6C9BD6E16616}"/>
              </a:ext>
            </a:extLst>
          </p:cNvPr>
          <p:cNvSpPr/>
          <p:nvPr/>
        </p:nvSpPr>
        <p:spPr>
          <a:xfrm>
            <a:off x="1166254" y="2856887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CMS Web 개발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3C56A31C-6DBF-632D-772A-0A17D722A864}"/>
              </a:ext>
            </a:extLst>
          </p:cNvPr>
          <p:cNvSpPr/>
          <p:nvPr/>
        </p:nvSpPr>
        <p:spPr>
          <a:xfrm>
            <a:off x="983374" y="3382667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71659136-5EE5-D9E6-C939-A5A6101936B8}"/>
              </a:ext>
            </a:extLst>
          </p:cNvPr>
          <p:cNvSpPr/>
          <p:nvPr/>
        </p:nvSpPr>
        <p:spPr>
          <a:xfrm>
            <a:off x="1166254" y="3332375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부서 내 React 기반 도입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15767A4B-1C15-DA6D-7A5B-A589A28BEFB3}"/>
              </a:ext>
            </a:extLst>
          </p:cNvPr>
          <p:cNvSpPr/>
          <p:nvPr/>
        </p:nvSpPr>
        <p:spPr>
          <a:xfrm>
            <a:off x="4640974" y="1869335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70C90F2F-810D-4E56-02F6-EFCA55BA2DF4}"/>
              </a:ext>
            </a:extLst>
          </p:cNvPr>
          <p:cNvSpPr/>
          <p:nvPr/>
        </p:nvSpPr>
        <p:spPr>
          <a:xfrm>
            <a:off x="4640974" y="2198519"/>
            <a:ext cx="260604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A3CD119D-5C38-48AE-382F-B30E949432F2}"/>
              </a:ext>
            </a:extLst>
          </p:cNvPr>
          <p:cNvSpPr/>
          <p:nvPr/>
        </p:nvSpPr>
        <p:spPr>
          <a:xfrm>
            <a:off x="4640974" y="2431691"/>
            <a:ext cx="91440" cy="91440"/>
          </a:xfrm>
          <a:prstGeom prst="ellipse">
            <a:avLst/>
          </a:prstGeom>
          <a:solidFill>
            <a:srgbClr val="12B3B6"/>
          </a:solidFill>
          <a:ln w="12700">
            <a:solidFill>
              <a:srgbClr val="12B3B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21A51F5D-9E5F-CCA7-DB2D-DB50468018E9}"/>
              </a:ext>
            </a:extLst>
          </p:cNvPr>
          <p:cNvSpPr/>
          <p:nvPr/>
        </p:nvSpPr>
        <p:spPr>
          <a:xfrm>
            <a:off x="4823854" y="2381399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 구성 및 화면 개발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5BD450A7-1178-193E-F643-87077725DD41}"/>
              </a:ext>
            </a:extLst>
          </p:cNvPr>
          <p:cNvSpPr/>
          <p:nvPr/>
        </p:nvSpPr>
        <p:spPr>
          <a:xfrm>
            <a:off x="4640974" y="2907179"/>
            <a:ext cx="91440" cy="91440"/>
          </a:xfrm>
          <a:prstGeom prst="ellipse">
            <a:avLst/>
          </a:prstGeom>
          <a:solidFill>
            <a:srgbClr val="12B3B6"/>
          </a:solidFill>
          <a:ln w="12700">
            <a:solidFill>
              <a:srgbClr val="12B3B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7A518F0D-D2CC-7549-077E-9B001A66E61D}"/>
              </a:ext>
            </a:extLst>
          </p:cNvPr>
          <p:cNvSpPr/>
          <p:nvPr/>
        </p:nvSpPr>
        <p:spPr>
          <a:xfrm>
            <a:off x="4823854" y="2856887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외주 개발자 일정 관리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F3EBC0F3-45B9-7C03-B453-B179B22258B7}"/>
              </a:ext>
            </a:extLst>
          </p:cNvPr>
          <p:cNvSpPr/>
          <p:nvPr/>
        </p:nvSpPr>
        <p:spPr>
          <a:xfrm>
            <a:off x="4640974" y="3382667"/>
            <a:ext cx="91440" cy="91440"/>
          </a:xfrm>
          <a:prstGeom prst="ellipse">
            <a:avLst/>
          </a:prstGeom>
          <a:solidFill>
            <a:srgbClr val="12B3B6"/>
          </a:solidFill>
          <a:ln w="12700">
            <a:solidFill>
              <a:srgbClr val="12B3B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D5F0CBC2-B95C-0A90-419F-A0E716BBAE73}"/>
              </a:ext>
            </a:extLst>
          </p:cNvPr>
          <p:cNvSpPr/>
          <p:nvPr/>
        </p:nvSpPr>
        <p:spPr>
          <a:xfrm>
            <a:off x="4823854" y="3332375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UX/UI 팀 협업 및 업무 조율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A08086C8-2AAA-5C86-1595-B07316153F78}"/>
              </a:ext>
            </a:extLst>
          </p:cNvPr>
          <p:cNvSpPr/>
          <p:nvPr/>
        </p:nvSpPr>
        <p:spPr>
          <a:xfrm>
            <a:off x="8390014" y="1869335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10B2F5E5-676D-4693-0383-BAD101BF3A50}"/>
              </a:ext>
            </a:extLst>
          </p:cNvPr>
          <p:cNvSpPr/>
          <p:nvPr/>
        </p:nvSpPr>
        <p:spPr>
          <a:xfrm>
            <a:off x="8390014" y="2198519"/>
            <a:ext cx="274320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6738C236-AB0F-157B-64E5-207FA314CA9B}"/>
              </a:ext>
            </a:extLst>
          </p:cNvPr>
          <p:cNvSpPr/>
          <p:nvPr/>
        </p:nvSpPr>
        <p:spPr>
          <a:xfrm>
            <a:off x="8390014" y="2431691"/>
            <a:ext cx="91440" cy="91440"/>
          </a:xfrm>
          <a:prstGeom prst="ellipse">
            <a:avLst/>
          </a:prstGeom>
          <a:solidFill>
            <a:srgbClr val="6E5BFF"/>
          </a:solidFill>
          <a:ln w="12700">
            <a:solidFill>
              <a:srgbClr val="6E5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9808205B-CD96-44B6-2AE4-F35472E70B98}"/>
              </a:ext>
            </a:extLst>
          </p:cNvPr>
          <p:cNvSpPr/>
          <p:nvPr/>
        </p:nvSpPr>
        <p:spPr>
          <a:xfrm>
            <a:off x="8572894" y="2381399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FE 기반 형성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24976D51-26B4-CE1E-D3A0-CED24F5A8719}"/>
              </a:ext>
            </a:extLst>
          </p:cNvPr>
          <p:cNvSpPr/>
          <p:nvPr/>
        </p:nvSpPr>
        <p:spPr>
          <a:xfrm>
            <a:off x="8390014" y="2907179"/>
            <a:ext cx="91440" cy="91440"/>
          </a:xfrm>
          <a:prstGeom prst="ellipse">
            <a:avLst/>
          </a:prstGeom>
          <a:solidFill>
            <a:srgbClr val="6E5BFF"/>
          </a:solidFill>
          <a:ln w="12700">
            <a:solidFill>
              <a:srgbClr val="6E5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27FD6DA6-3931-3329-D079-582ABD01BDD9}"/>
              </a:ext>
            </a:extLst>
          </p:cNvPr>
          <p:cNvSpPr/>
          <p:nvPr/>
        </p:nvSpPr>
        <p:spPr>
          <a:xfrm>
            <a:off x="8572894" y="2856887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후속 프로젝트 확장 기반 확보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55" name="Shape 30">
            <a:extLst>
              <a:ext uri="{FF2B5EF4-FFF2-40B4-BE49-F238E27FC236}">
                <a16:creationId xmlns:a16="http://schemas.microsoft.com/office/drawing/2014/main" id="{730A45D8-C8B4-7CE8-5411-9AAA6A68B50B}"/>
              </a:ext>
            </a:extLst>
          </p:cNvPr>
          <p:cNvSpPr/>
          <p:nvPr/>
        </p:nvSpPr>
        <p:spPr>
          <a:xfrm>
            <a:off x="8390014" y="3382667"/>
            <a:ext cx="91440" cy="91440"/>
          </a:xfrm>
          <a:prstGeom prst="ellipse">
            <a:avLst/>
          </a:prstGeom>
          <a:solidFill>
            <a:srgbClr val="6E5BFF"/>
          </a:solidFill>
          <a:ln w="12700">
            <a:solidFill>
              <a:srgbClr val="6E5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997FAC4E-024E-CC3C-F64E-D3D0FB7819DC}"/>
              </a:ext>
            </a:extLst>
          </p:cNvPr>
          <p:cNvSpPr/>
          <p:nvPr/>
        </p:nvSpPr>
        <p:spPr>
          <a:xfrm>
            <a:off x="8572894" y="3332375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 도입과 정착 경험 축적</a:t>
            </a:r>
            <a:endParaRPr lang="en-US" sz="114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9B057-4F90-E14D-DB04-F5578960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249819-EEA1-CB7C-D1E8-EC0F5298598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E8295F-BC22-9FD3-36EF-3C00629C21ED}"/>
              </a:ext>
            </a:extLst>
          </p:cNvPr>
          <p:cNvSpPr/>
          <p:nvPr/>
        </p:nvSpPr>
        <p:spPr>
          <a:xfrm>
            <a:off x="502920" y="475488"/>
            <a:ext cx="914400" cy="54864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4C6D31-73F1-E5C1-EF3C-D259E7300DC2}"/>
              </a:ext>
            </a:extLst>
          </p:cNvPr>
          <p:cNvSpPr/>
          <p:nvPr/>
        </p:nvSpPr>
        <p:spPr>
          <a:xfrm>
            <a:off x="530352" y="62179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PROJECT HIGHLIGHT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616F644-2537-98D6-B499-ED184DACF598}"/>
              </a:ext>
            </a:extLst>
          </p:cNvPr>
          <p:cNvSpPr/>
          <p:nvPr/>
        </p:nvSpPr>
        <p:spPr>
          <a:xfrm>
            <a:off x="502920" y="89611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4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</a:t>
            </a:r>
            <a:r>
              <a:rPr lang="ko-KR" altLang="en-US" sz="24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구매 고도화와 성능 개선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972B74F-8726-2CCD-F2B6-89EF2F6F0E6D}"/>
              </a:ext>
            </a:extLst>
          </p:cNvPr>
          <p:cNvSpPr/>
          <p:nvPr/>
        </p:nvSpPr>
        <p:spPr>
          <a:xfrm>
            <a:off x="10332720" y="5669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Choi Ji Woong</a:t>
            </a:r>
            <a:endParaRPr lang="en-US" sz="900" dirty="0"/>
          </a:p>
        </p:txBody>
      </p:sp>
      <p:sp>
        <p:nvSpPr>
          <p:cNvPr id="75" name="Text 7">
            <a:extLst>
              <a:ext uri="{FF2B5EF4-FFF2-40B4-BE49-F238E27FC236}">
                <a16:creationId xmlns:a16="http://schemas.microsoft.com/office/drawing/2014/main" id="{3110A389-0824-2BA2-9B40-0545FBFE26C5}"/>
              </a:ext>
            </a:extLst>
          </p:cNvPr>
          <p:cNvSpPr/>
          <p:nvPr/>
        </p:nvSpPr>
        <p:spPr>
          <a:xfrm>
            <a:off x="970317" y="1869241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구매 고도화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76" name="Shape 8">
            <a:extLst>
              <a:ext uri="{FF2B5EF4-FFF2-40B4-BE49-F238E27FC236}">
                <a16:creationId xmlns:a16="http://schemas.microsoft.com/office/drawing/2014/main" id="{0E9243D5-2EE2-6C88-8501-4575DE0DD844}"/>
              </a:ext>
            </a:extLst>
          </p:cNvPr>
          <p:cNvSpPr/>
          <p:nvPr/>
        </p:nvSpPr>
        <p:spPr>
          <a:xfrm>
            <a:off x="970317" y="2198425"/>
            <a:ext cx="429768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77" name="Shape 9">
            <a:extLst>
              <a:ext uri="{FF2B5EF4-FFF2-40B4-BE49-F238E27FC236}">
                <a16:creationId xmlns:a16="http://schemas.microsoft.com/office/drawing/2014/main" id="{2A0CC18E-CE03-90B0-7874-5446D5568C13}"/>
              </a:ext>
            </a:extLst>
          </p:cNvPr>
          <p:cNvSpPr/>
          <p:nvPr/>
        </p:nvSpPr>
        <p:spPr>
          <a:xfrm>
            <a:off x="970317" y="2431597"/>
            <a:ext cx="91440" cy="91440"/>
          </a:xfrm>
          <a:prstGeom prst="ellipse">
            <a:avLst/>
          </a:prstGeom>
          <a:solidFill>
            <a:srgbClr val="12B3B6"/>
          </a:solidFill>
          <a:ln w="12700">
            <a:solidFill>
              <a:srgbClr val="12B3B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78" name="Text 10">
            <a:extLst>
              <a:ext uri="{FF2B5EF4-FFF2-40B4-BE49-F238E27FC236}">
                <a16:creationId xmlns:a16="http://schemas.microsoft.com/office/drawing/2014/main" id="{3D562A62-601F-9B1C-6B1C-BDFFF561A739}"/>
              </a:ext>
            </a:extLst>
          </p:cNvPr>
          <p:cNvSpPr/>
          <p:nvPr/>
        </p:nvSpPr>
        <p:spPr>
          <a:xfrm>
            <a:off x="1153197" y="2381305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컴포넌트 개발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79" name="Shape 11">
            <a:extLst>
              <a:ext uri="{FF2B5EF4-FFF2-40B4-BE49-F238E27FC236}">
                <a16:creationId xmlns:a16="http://schemas.microsoft.com/office/drawing/2014/main" id="{6135F400-FEA5-2D6B-B8F1-C97B78EA4626}"/>
              </a:ext>
            </a:extLst>
          </p:cNvPr>
          <p:cNvSpPr/>
          <p:nvPr/>
        </p:nvSpPr>
        <p:spPr>
          <a:xfrm>
            <a:off x="970317" y="2907085"/>
            <a:ext cx="91440" cy="91440"/>
          </a:xfrm>
          <a:prstGeom prst="ellipse">
            <a:avLst/>
          </a:prstGeom>
          <a:solidFill>
            <a:srgbClr val="12B3B6"/>
          </a:solidFill>
          <a:ln w="12700">
            <a:solidFill>
              <a:srgbClr val="12B3B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0" name="Text 12">
            <a:extLst>
              <a:ext uri="{FF2B5EF4-FFF2-40B4-BE49-F238E27FC236}">
                <a16:creationId xmlns:a16="http://schemas.microsoft.com/office/drawing/2014/main" id="{33B790F0-0519-1527-1ECC-0C3D3B9CF7F5}"/>
              </a:ext>
            </a:extLst>
          </p:cNvPr>
          <p:cNvSpPr/>
          <p:nvPr/>
        </p:nvSpPr>
        <p:spPr>
          <a:xfrm>
            <a:off x="1153197" y="2837939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 err="1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Monorepo</a:t>
            </a: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구축</a:t>
            </a:r>
            <a:endParaRPr lang="en-US" altLang="ko-KR" sz="1140" dirty="0">
              <a:solidFill>
                <a:schemeClr val="bg1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</p:txBody>
      </p:sp>
      <p:sp>
        <p:nvSpPr>
          <p:cNvPr id="81" name="Shape 13">
            <a:extLst>
              <a:ext uri="{FF2B5EF4-FFF2-40B4-BE49-F238E27FC236}">
                <a16:creationId xmlns:a16="http://schemas.microsoft.com/office/drawing/2014/main" id="{08E7951D-585B-469F-F9BE-248680798C6A}"/>
              </a:ext>
            </a:extLst>
          </p:cNvPr>
          <p:cNvSpPr/>
          <p:nvPr/>
        </p:nvSpPr>
        <p:spPr>
          <a:xfrm>
            <a:off x="970317" y="3382573"/>
            <a:ext cx="91440" cy="91440"/>
          </a:xfrm>
          <a:prstGeom prst="ellipse">
            <a:avLst/>
          </a:prstGeom>
          <a:solidFill>
            <a:srgbClr val="12B3B6"/>
          </a:solidFill>
          <a:ln w="12700">
            <a:solidFill>
              <a:srgbClr val="12B3B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2" name="Text 14">
            <a:extLst>
              <a:ext uri="{FF2B5EF4-FFF2-40B4-BE49-F238E27FC236}">
                <a16:creationId xmlns:a16="http://schemas.microsoft.com/office/drawing/2014/main" id="{7EF48BFE-A5FA-C30E-10BD-608E0B91D071}"/>
              </a:ext>
            </a:extLst>
          </p:cNvPr>
          <p:cNvSpPr/>
          <p:nvPr/>
        </p:nvSpPr>
        <p:spPr>
          <a:xfrm>
            <a:off x="1153197" y="3332281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친화적 UI/UX 고도화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83" name="Shape 15">
            <a:extLst>
              <a:ext uri="{FF2B5EF4-FFF2-40B4-BE49-F238E27FC236}">
                <a16:creationId xmlns:a16="http://schemas.microsoft.com/office/drawing/2014/main" id="{FCC3DB6D-0BFD-C751-E7D4-7D84DB049FB9}"/>
              </a:ext>
            </a:extLst>
          </p:cNvPr>
          <p:cNvSpPr/>
          <p:nvPr/>
        </p:nvSpPr>
        <p:spPr>
          <a:xfrm>
            <a:off x="970317" y="3858061"/>
            <a:ext cx="91440" cy="91440"/>
          </a:xfrm>
          <a:prstGeom prst="ellipse">
            <a:avLst/>
          </a:prstGeom>
          <a:solidFill>
            <a:srgbClr val="12B3B6"/>
          </a:solidFill>
          <a:ln w="12700">
            <a:solidFill>
              <a:srgbClr val="12B3B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4" name="Text 16">
            <a:extLst>
              <a:ext uri="{FF2B5EF4-FFF2-40B4-BE49-F238E27FC236}">
                <a16:creationId xmlns:a16="http://schemas.microsoft.com/office/drawing/2014/main" id="{5BF61B50-A484-06C9-D660-D7FFFF9418E7}"/>
              </a:ext>
            </a:extLst>
          </p:cNvPr>
          <p:cNvSpPr/>
          <p:nvPr/>
        </p:nvSpPr>
        <p:spPr>
          <a:xfrm>
            <a:off x="1153197" y="3807769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Playwright 기반 E2E 환경 구축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85" name="Text 17">
            <a:extLst>
              <a:ext uri="{FF2B5EF4-FFF2-40B4-BE49-F238E27FC236}">
                <a16:creationId xmlns:a16="http://schemas.microsoft.com/office/drawing/2014/main" id="{33B3A251-DBAA-3E74-52F1-412BF0498A18}"/>
              </a:ext>
            </a:extLst>
          </p:cNvPr>
          <p:cNvSpPr/>
          <p:nvPr/>
        </p:nvSpPr>
        <p:spPr>
          <a:xfrm>
            <a:off x="6603021" y="1869241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구매 성능 개선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86" name="Shape 18">
            <a:extLst>
              <a:ext uri="{FF2B5EF4-FFF2-40B4-BE49-F238E27FC236}">
                <a16:creationId xmlns:a16="http://schemas.microsoft.com/office/drawing/2014/main" id="{9C6907B6-17C3-7B56-ABB2-4BCE35062169}"/>
              </a:ext>
            </a:extLst>
          </p:cNvPr>
          <p:cNvSpPr/>
          <p:nvPr/>
        </p:nvSpPr>
        <p:spPr>
          <a:xfrm>
            <a:off x="6603021" y="2198425"/>
            <a:ext cx="397764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7" name="Shape 19">
            <a:extLst>
              <a:ext uri="{FF2B5EF4-FFF2-40B4-BE49-F238E27FC236}">
                <a16:creationId xmlns:a16="http://schemas.microsoft.com/office/drawing/2014/main" id="{C3C5D513-11FB-6345-E951-3509133929AC}"/>
              </a:ext>
            </a:extLst>
          </p:cNvPr>
          <p:cNvSpPr/>
          <p:nvPr/>
        </p:nvSpPr>
        <p:spPr>
          <a:xfrm>
            <a:off x="6603021" y="2431597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8" name="Text 20">
            <a:extLst>
              <a:ext uri="{FF2B5EF4-FFF2-40B4-BE49-F238E27FC236}">
                <a16:creationId xmlns:a16="http://schemas.microsoft.com/office/drawing/2014/main" id="{70A00092-BB97-7D37-1537-D2DCBD6F7234}"/>
              </a:ext>
            </a:extLst>
          </p:cNvPr>
          <p:cNvSpPr/>
          <p:nvPr/>
        </p:nvSpPr>
        <p:spPr>
          <a:xfrm>
            <a:off x="6785901" y="2381305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Lighthouse / Bundle Analyzer 기반 진단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89" name="Shape 21">
            <a:extLst>
              <a:ext uri="{FF2B5EF4-FFF2-40B4-BE49-F238E27FC236}">
                <a16:creationId xmlns:a16="http://schemas.microsoft.com/office/drawing/2014/main" id="{FDCBB0A0-EED1-0CB7-FCC4-AF0BEE2A037F}"/>
              </a:ext>
            </a:extLst>
          </p:cNvPr>
          <p:cNvSpPr/>
          <p:nvPr/>
        </p:nvSpPr>
        <p:spPr>
          <a:xfrm>
            <a:off x="6603021" y="2907085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0" name="Text 22">
            <a:extLst>
              <a:ext uri="{FF2B5EF4-FFF2-40B4-BE49-F238E27FC236}">
                <a16:creationId xmlns:a16="http://schemas.microsoft.com/office/drawing/2014/main" id="{23ED10CF-ED37-0C04-26E1-6C3D6BE41FEB}"/>
              </a:ext>
            </a:extLst>
          </p:cNvPr>
          <p:cNvSpPr/>
          <p:nvPr/>
        </p:nvSpPr>
        <p:spPr>
          <a:xfrm>
            <a:off x="6785901" y="2856793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 err="1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</a:t>
            </a: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40" dirty="0" err="1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스플리</a:t>
            </a:r>
            <a:r>
              <a:rPr lang="ko-KR" altLang="en-US" sz="1140" dirty="0" err="1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팅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91" name="Shape 23">
            <a:extLst>
              <a:ext uri="{FF2B5EF4-FFF2-40B4-BE49-F238E27FC236}">
                <a16:creationId xmlns:a16="http://schemas.microsoft.com/office/drawing/2014/main" id="{F1528153-4405-6BE8-1975-B380817032AC}"/>
              </a:ext>
            </a:extLst>
          </p:cNvPr>
          <p:cNvSpPr/>
          <p:nvPr/>
        </p:nvSpPr>
        <p:spPr>
          <a:xfrm>
            <a:off x="6603021" y="3382573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2" name="Text 24">
            <a:extLst>
              <a:ext uri="{FF2B5EF4-FFF2-40B4-BE49-F238E27FC236}">
                <a16:creationId xmlns:a16="http://schemas.microsoft.com/office/drawing/2014/main" id="{93EF8E45-679F-0DC8-B96A-C175C3EB042D}"/>
              </a:ext>
            </a:extLst>
          </p:cNvPr>
          <p:cNvSpPr/>
          <p:nvPr/>
        </p:nvSpPr>
        <p:spPr>
          <a:xfrm>
            <a:off x="6785901" y="3332281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JavaScript 사이즈 축소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63A76E07-5837-6995-FA75-8D035A9D3B59}"/>
              </a:ext>
            </a:extLst>
          </p:cNvPr>
          <p:cNvSpPr/>
          <p:nvPr/>
        </p:nvSpPr>
        <p:spPr>
          <a:xfrm>
            <a:off x="6603021" y="3858061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4" name="Text 26">
            <a:extLst>
              <a:ext uri="{FF2B5EF4-FFF2-40B4-BE49-F238E27FC236}">
                <a16:creationId xmlns:a16="http://schemas.microsoft.com/office/drawing/2014/main" id="{60C6DF1C-62CE-F0A6-56EA-DCA48A21F2E3}"/>
              </a:ext>
            </a:extLst>
          </p:cNvPr>
          <p:cNvSpPr/>
          <p:nvPr/>
        </p:nvSpPr>
        <p:spPr>
          <a:xfrm>
            <a:off x="6785901" y="3807769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성능 점수 80 달성</a:t>
            </a:r>
            <a:endParaRPr lang="en-US" sz="114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418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914400" cy="54864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287000" y="566928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Choi Ji Woong</a:t>
            </a:r>
            <a:endParaRPr lang="en-US" sz="90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AA67D7CB-524A-B766-CFE9-1C258EC0FD5B}"/>
              </a:ext>
            </a:extLst>
          </p:cNvPr>
          <p:cNvSpPr/>
          <p:nvPr/>
        </p:nvSpPr>
        <p:spPr>
          <a:xfrm>
            <a:off x="530352" y="62179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PROJECT HIGHLIGHT</a:t>
            </a:r>
            <a:endParaRPr lang="en-US" sz="10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124BCF00-1115-528A-1678-2B044557AC73}"/>
              </a:ext>
            </a:extLst>
          </p:cNvPr>
          <p:cNvSpPr/>
          <p:nvPr/>
        </p:nvSpPr>
        <p:spPr>
          <a:xfrm>
            <a:off x="502920" y="89611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</a:t>
            </a:r>
            <a:r>
              <a:rPr lang="en-US" altLang="ko-KR" sz="24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2400" b="1" dirty="0" err="1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</a:t>
            </a:r>
            <a:r>
              <a:rPr lang="en-US" altLang="ko-KR" sz="24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2400" b="1" dirty="0" err="1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전환과</a:t>
            </a:r>
            <a:r>
              <a:rPr lang="en-US" altLang="ko-KR" sz="24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2400" b="1" dirty="0" err="1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</a:t>
            </a:r>
            <a:r>
              <a:rPr lang="en-US" altLang="ko-KR" sz="24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2400" b="1" dirty="0" err="1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체계</a:t>
            </a:r>
            <a:r>
              <a:rPr lang="en-US" altLang="ko-KR" sz="24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2400" b="1" dirty="0" err="1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12331002-4696-FBBD-D21F-FEF6153F195A}"/>
              </a:ext>
            </a:extLst>
          </p:cNvPr>
          <p:cNvSpPr/>
          <p:nvPr/>
        </p:nvSpPr>
        <p:spPr>
          <a:xfrm>
            <a:off x="918233" y="198443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Monorepo 도입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0DD97FA2-9BE0-E169-57AA-56010BDAAF1D}"/>
              </a:ext>
            </a:extLst>
          </p:cNvPr>
          <p:cNvSpPr/>
          <p:nvPr/>
        </p:nvSpPr>
        <p:spPr>
          <a:xfrm>
            <a:off x="918233" y="2313620"/>
            <a:ext cx="260604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Shape 10">
            <a:extLst>
              <a:ext uri="{FF2B5EF4-FFF2-40B4-BE49-F238E27FC236}">
                <a16:creationId xmlns:a16="http://schemas.microsoft.com/office/drawing/2014/main" id="{C0BCFF2D-78B5-F383-DB1D-EE696F7836F5}"/>
              </a:ext>
            </a:extLst>
          </p:cNvPr>
          <p:cNvSpPr/>
          <p:nvPr/>
        </p:nvSpPr>
        <p:spPr>
          <a:xfrm>
            <a:off x="918233" y="254679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314BE575-F926-F3DB-121C-DF1AD2A2BAF1}"/>
              </a:ext>
            </a:extLst>
          </p:cNvPr>
          <p:cNvSpPr/>
          <p:nvPr/>
        </p:nvSpPr>
        <p:spPr>
          <a:xfrm>
            <a:off x="1101113" y="24965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pnpm / turborepo / nextjs 기반 구성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9752A735-C3A7-9FF8-5A44-CC6107AD06C5}"/>
              </a:ext>
            </a:extLst>
          </p:cNvPr>
          <p:cNvSpPr/>
          <p:nvPr/>
        </p:nvSpPr>
        <p:spPr>
          <a:xfrm>
            <a:off x="918233" y="302228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5D22E65B-E8AF-99C4-229C-8A117578ED8B}"/>
              </a:ext>
            </a:extLst>
          </p:cNvPr>
          <p:cNvSpPr/>
          <p:nvPr/>
        </p:nvSpPr>
        <p:spPr>
          <a:xfrm>
            <a:off x="1101113" y="29719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 포인트와 중복 코드 감소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D248C75C-6B3C-E612-B4A9-4CAF8F5F28C2}"/>
              </a:ext>
            </a:extLst>
          </p:cNvPr>
          <p:cNvSpPr/>
          <p:nvPr/>
        </p:nvSpPr>
        <p:spPr>
          <a:xfrm>
            <a:off x="918233" y="349776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EBF4BD7C-394A-D0F8-22FE-6D61E575CB19}"/>
              </a:ext>
            </a:extLst>
          </p:cNvPr>
          <p:cNvSpPr/>
          <p:nvPr/>
        </p:nvSpPr>
        <p:spPr>
          <a:xfrm>
            <a:off x="1101113" y="344747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컴포넌트 확장 기반 확보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369533EA-3472-7836-0362-72FA1265B3F1}"/>
              </a:ext>
            </a:extLst>
          </p:cNvPr>
          <p:cNvSpPr/>
          <p:nvPr/>
        </p:nvSpPr>
        <p:spPr>
          <a:xfrm>
            <a:off x="4667273" y="198443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스타일 체계 전환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96649527-61CC-EC18-2881-4AF93D32EA3C}"/>
              </a:ext>
            </a:extLst>
          </p:cNvPr>
          <p:cNvSpPr/>
          <p:nvPr/>
        </p:nvSpPr>
        <p:spPr>
          <a:xfrm>
            <a:off x="4667273" y="2313620"/>
            <a:ext cx="260604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A6355D9E-9B08-45C7-483B-10BD1E388C09}"/>
              </a:ext>
            </a:extLst>
          </p:cNvPr>
          <p:cNvSpPr/>
          <p:nvPr/>
        </p:nvSpPr>
        <p:spPr>
          <a:xfrm>
            <a:off x="4667273" y="2546792"/>
            <a:ext cx="91440" cy="91440"/>
          </a:xfrm>
          <a:prstGeom prst="ellipse">
            <a:avLst/>
          </a:prstGeom>
          <a:solidFill>
            <a:srgbClr val="6E5BFF"/>
          </a:solidFill>
          <a:ln w="12700">
            <a:solidFill>
              <a:srgbClr val="6E5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F61412BF-0B95-5132-A85F-0C09F814A5F2}"/>
              </a:ext>
            </a:extLst>
          </p:cNvPr>
          <p:cNvSpPr/>
          <p:nvPr/>
        </p:nvSpPr>
        <p:spPr>
          <a:xfrm>
            <a:off x="4850153" y="24965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styled 기반 구조 정리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338F4A1A-847C-EF1A-BF8B-3E8DC99402AD}"/>
              </a:ext>
            </a:extLst>
          </p:cNvPr>
          <p:cNvSpPr/>
          <p:nvPr/>
        </p:nvSpPr>
        <p:spPr>
          <a:xfrm>
            <a:off x="4667273" y="3022280"/>
            <a:ext cx="91440" cy="91440"/>
          </a:xfrm>
          <a:prstGeom prst="ellipse">
            <a:avLst/>
          </a:prstGeom>
          <a:solidFill>
            <a:srgbClr val="6E5BFF"/>
          </a:solidFill>
          <a:ln w="12700">
            <a:solidFill>
              <a:srgbClr val="6E5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39591A05-459A-6BA7-833B-BB819F0C0BB9}"/>
              </a:ext>
            </a:extLst>
          </p:cNvPr>
          <p:cNvSpPr/>
          <p:nvPr/>
        </p:nvSpPr>
        <p:spPr>
          <a:xfrm>
            <a:off x="4850153" y="29719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vanilla-extract 중심 전환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8B4DC800-61D3-6164-0ED9-8828ACAF639D}"/>
              </a:ext>
            </a:extLst>
          </p:cNvPr>
          <p:cNvSpPr/>
          <p:nvPr/>
        </p:nvSpPr>
        <p:spPr>
          <a:xfrm>
            <a:off x="4667273" y="3497768"/>
            <a:ext cx="91440" cy="91440"/>
          </a:xfrm>
          <a:prstGeom prst="ellipse">
            <a:avLst/>
          </a:prstGeom>
          <a:solidFill>
            <a:srgbClr val="6E5BFF"/>
          </a:solidFill>
          <a:ln w="12700">
            <a:solidFill>
              <a:srgbClr val="6E5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DC54918D-03B5-A20B-CDB9-8DB56934B628}"/>
              </a:ext>
            </a:extLst>
          </p:cNvPr>
          <p:cNvSpPr/>
          <p:nvPr/>
        </p:nvSpPr>
        <p:spPr>
          <a:xfrm>
            <a:off x="4850153" y="344747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headless UI 방향으로 구조 재편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634A3489-6D4E-152D-8718-CBA98426A5F4}"/>
              </a:ext>
            </a:extLst>
          </p:cNvPr>
          <p:cNvSpPr/>
          <p:nvPr/>
        </p:nvSpPr>
        <p:spPr>
          <a:xfrm>
            <a:off x="8379737" y="19844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체계 개선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9" name="Shape 25">
            <a:extLst>
              <a:ext uri="{FF2B5EF4-FFF2-40B4-BE49-F238E27FC236}">
                <a16:creationId xmlns:a16="http://schemas.microsoft.com/office/drawing/2014/main" id="{271385DE-302F-30C0-193D-22D6EFD057F1}"/>
              </a:ext>
            </a:extLst>
          </p:cNvPr>
          <p:cNvSpPr/>
          <p:nvPr/>
        </p:nvSpPr>
        <p:spPr>
          <a:xfrm>
            <a:off x="8379737" y="2313620"/>
            <a:ext cx="274320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41309935-A511-3785-D745-3E6A16117F1B}"/>
              </a:ext>
            </a:extLst>
          </p:cNvPr>
          <p:cNvSpPr/>
          <p:nvPr/>
        </p:nvSpPr>
        <p:spPr>
          <a:xfrm>
            <a:off x="8379737" y="254679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FECCD2E8-5C45-5468-A921-07F233E68BE2}"/>
              </a:ext>
            </a:extLst>
          </p:cNvPr>
          <p:cNvSpPr/>
          <p:nvPr/>
        </p:nvSpPr>
        <p:spPr>
          <a:xfrm>
            <a:off x="8562617" y="24965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Figma SVG 기반 icon generate 체계 설계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42" name="Shape 28">
            <a:extLst>
              <a:ext uri="{FF2B5EF4-FFF2-40B4-BE49-F238E27FC236}">
                <a16:creationId xmlns:a16="http://schemas.microsoft.com/office/drawing/2014/main" id="{FB2D6D4C-2BDB-701A-1E56-844B9B0549CA}"/>
              </a:ext>
            </a:extLst>
          </p:cNvPr>
          <p:cNvSpPr/>
          <p:nvPr/>
        </p:nvSpPr>
        <p:spPr>
          <a:xfrm>
            <a:off x="8379737" y="30222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14ED9787-54F4-66DE-0C49-1D6D99854B0D}"/>
              </a:ext>
            </a:extLst>
          </p:cNvPr>
          <p:cNvSpPr/>
          <p:nvPr/>
        </p:nvSpPr>
        <p:spPr>
          <a:xfrm>
            <a:off x="8562617" y="29719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디자인 산출물과 개발 사용성 연결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44" name="Shape 30">
            <a:extLst>
              <a:ext uri="{FF2B5EF4-FFF2-40B4-BE49-F238E27FC236}">
                <a16:creationId xmlns:a16="http://schemas.microsoft.com/office/drawing/2014/main" id="{8428ED50-CD82-C68B-E587-1A7F33FDF260}"/>
              </a:ext>
            </a:extLst>
          </p:cNvPr>
          <p:cNvSpPr/>
          <p:nvPr/>
        </p:nvSpPr>
        <p:spPr>
          <a:xfrm>
            <a:off x="8379737" y="34977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7F1F25C5-B603-04A8-37D9-CD0001C57D4B}"/>
              </a:ext>
            </a:extLst>
          </p:cNvPr>
          <p:cNvSpPr/>
          <p:nvPr/>
        </p:nvSpPr>
        <p:spPr>
          <a:xfrm>
            <a:off x="8562617" y="344747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코드리뷰 자동화 실험으로 생산성 확장</a:t>
            </a:r>
            <a:endParaRPr lang="en-US" sz="114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914400" cy="54864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CLOSING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마무리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87000" y="566928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Choi Ji Woong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68680" y="4983480"/>
            <a:ext cx="10287000" cy="0"/>
          </a:xfrm>
          <a:prstGeom prst="line">
            <a:avLst/>
          </a:prstGeom>
          <a:noFill/>
          <a:ln w="12700">
            <a:solidFill>
              <a:srgbClr val="253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005840" y="523036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700" b="1" dirty="0" err="1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프론트엔드</a:t>
            </a:r>
            <a:r>
              <a:rPr lang="ko-KR" alt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기반 구축</a:t>
            </a:r>
            <a:r>
              <a:rPr lang="en-US" altLang="ko-KR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</a:t>
            </a:r>
            <a:r>
              <a:rPr lang="ko-KR" alt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 개선</a:t>
            </a:r>
            <a:r>
              <a:rPr lang="en-US" altLang="ko-KR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</a:t>
            </a:r>
            <a:r>
              <a:rPr lang="ko-KR" altLang="en-US" sz="1700" b="1" dirty="0">
                <a:solidFill>
                  <a:srgbClr val="F8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연결까지 수행할 수 있는 개발자</a:t>
            </a:r>
            <a:endParaRPr lang="en-US" sz="17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490005CD-3654-866E-0568-8719731AAF60}"/>
              </a:ext>
            </a:extLst>
          </p:cNvPr>
          <p:cNvSpPr/>
          <p:nvPr/>
        </p:nvSpPr>
        <p:spPr>
          <a:xfrm>
            <a:off x="705540" y="17183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기반 형성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F46A1D20-AAD4-8181-5039-71E9B55AFC7A}"/>
              </a:ext>
            </a:extLst>
          </p:cNvPr>
          <p:cNvSpPr/>
          <p:nvPr/>
        </p:nvSpPr>
        <p:spPr>
          <a:xfrm>
            <a:off x="705540" y="2047508"/>
            <a:ext cx="292608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ADAF9B52-9BE3-425D-15B9-B8DBF3730FB9}"/>
              </a:ext>
            </a:extLst>
          </p:cNvPr>
          <p:cNvSpPr/>
          <p:nvPr/>
        </p:nvSpPr>
        <p:spPr>
          <a:xfrm>
            <a:off x="705540" y="228068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45270103-7DB8-7563-552D-71D0C97147F7}"/>
              </a:ext>
            </a:extLst>
          </p:cNvPr>
          <p:cNvSpPr/>
          <p:nvPr/>
        </p:nvSpPr>
        <p:spPr>
          <a:xfrm>
            <a:off x="888420" y="22303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새로운 FE 환경 도입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EF88CE47-8668-FC98-0D52-096AEBD821C1}"/>
              </a:ext>
            </a:extLst>
          </p:cNvPr>
          <p:cNvSpPr/>
          <p:nvPr/>
        </p:nvSpPr>
        <p:spPr>
          <a:xfrm>
            <a:off x="705540" y="275616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483FA742-D22B-5C65-CBE6-B128E8416E1F}"/>
              </a:ext>
            </a:extLst>
          </p:cNvPr>
          <p:cNvSpPr/>
          <p:nvPr/>
        </p:nvSpPr>
        <p:spPr>
          <a:xfrm>
            <a:off x="888420" y="27058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컴포넌트와 개발 규칙 정립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79DFB628-A7F3-BCCE-26B3-37CAF822DED2}"/>
              </a:ext>
            </a:extLst>
          </p:cNvPr>
          <p:cNvSpPr/>
          <p:nvPr/>
        </p:nvSpPr>
        <p:spPr>
          <a:xfrm>
            <a:off x="705540" y="323165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D50C4721-D223-6902-1508-F843DD814543}"/>
              </a:ext>
            </a:extLst>
          </p:cNvPr>
          <p:cNvSpPr/>
          <p:nvPr/>
        </p:nvSpPr>
        <p:spPr>
          <a:xfrm>
            <a:off x="888420" y="31813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시작 비용 절감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B304852B-E64F-AF70-B70A-619505A43619}"/>
              </a:ext>
            </a:extLst>
          </p:cNvPr>
          <p:cNvSpPr/>
          <p:nvPr/>
        </p:nvSpPr>
        <p:spPr>
          <a:xfrm>
            <a:off x="4363140" y="17183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 개선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1E4CA0E7-1F6D-A6BB-A1E9-30DFB1581B38}"/>
              </a:ext>
            </a:extLst>
          </p:cNvPr>
          <p:cNvSpPr/>
          <p:nvPr/>
        </p:nvSpPr>
        <p:spPr>
          <a:xfrm>
            <a:off x="4363140" y="2047508"/>
            <a:ext cx="292608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FE4BA203-A633-9B67-0AC5-8443D79147A0}"/>
              </a:ext>
            </a:extLst>
          </p:cNvPr>
          <p:cNvSpPr/>
          <p:nvPr/>
        </p:nvSpPr>
        <p:spPr>
          <a:xfrm>
            <a:off x="4363140" y="2280680"/>
            <a:ext cx="91440" cy="91440"/>
          </a:xfrm>
          <a:prstGeom prst="ellipse">
            <a:avLst/>
          </a:prstGeom>
          <a:solidFill>
            <a:srgbClr val="12B3B6"/>
          </a:solidFill>
          <a:ln w="12700">
            <a:solidFill>
              <a:srgbClr val="12B3B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13CB2740-4EF9-ABEB-FFF0-36748DAABB65}"/>
              </a:ext>
            </a:extLst>
          </p:cNvPr>
          <p:cNvSpPr/>
          <p:nvPr/>
        </p:nvSpPr>
        <p:spPr>
          <a:xfrm>
            <a:off x="4546020" y="22303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레거시와 기술부채 정리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D4F77E0F-3B18-4E16-DCD1-F6E317BC051E}"/>
              </a:ext>
            </a:extLst>
          </p:cNvPr>
          <p:cNvSpPr/>
          <p:nvPr/>
        </p:nvSpPr>
        <p:spPr>
          <a:xfrm>
            <a:off x="4363140" y="2756168"/>
            <a:ext cx="91440" cy="91440"/>
          </a:xfrm>
          <a:prstGeom prst="ellipse">
            <a:avLst/>
          </a:prstGeom>
          <a:solidFill>
            <a:srgbClr val="12B3B6"/>
          </a:solidFill>
          <a:ln w="12700">
            <a:solidFill>
              <a:srgbClr val="12B3B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33E9B2E3-FBC0-3477-D14E-94EADE84600C}"/>
              </a:ext>
            </a:extLst>
          </p:cNvPr>
          <p:cNvSpPr/>
          <p:nvPr/>
        </p:nvSpPr>
        <p:spPr>
          <a:xfrm>
            <a:off x="4546020" y="27058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성능 저하의 구조적 해결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50" name="Shape 20">
            <a:extLst>
              <a:ext uri="{FF2B5EF4-FFF2-40B4-BE49-F238E27FC236}">
                <a16:creationId xmlns:a16="http://schemas.microsoft.com/office/drawing/2014/main" id="{DB009EAD-8752-CE46-8EAA-B997C1B4BCFA}"/>
              </a:ext>
            </a:extLst>
          </p:cNvPr>
          <p:cNvSpPr/>
          <p:nvPr/>
        </p:nvSpPr>
        <p:spPr>
          <a:xfrm>
            <a:off x="4363140" y="3231656"/>
            <a:ext cx="91440" cy="91440"/>
          </a:xfrm>
          <a:prstGeom prst="ellipse">
            <a:avLst/>
          </a:prstGeom>
          <a:solidFill>
            <a:srgbClr val="12B3B6"/>
          </a:solidFill>
          <a:ln w="12700">
            <a:solidFill>
              <a:srgbClr val="12B3B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CCCC16E6-7262-74A5-7B14-61C495F32168}"/>
              </a:ext>
            </a:extLst>
          </p:cNvPr>
          <p:cNvSpPr/>
          <p:nvPr/>
        </p:nvSpPr>
        <p:spPr>
          <a:xfrm>
            <a:off x="4546020" y="31813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확장 가능한 FE 체계 구축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C12B4F56-767F-93F6-4566-9F1531ED6CE7}"/>
              </a:ext>
            </a:extLst>
          </p:cNvPr>
          <p:cNvSpPr/>
          <p:nvPr/>
        </p:nvSpPr>
        <p:spPr>
          <a:xfrm>
            <a:off x="8020740" y="17183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연결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3" name="Shape 23">
            <a:extLst>
              <a:ext uri="{FF2B5EF4-FFF2-40B4-BE49-F238E27FC236}">
                <a16:creationId xmlns:a16="http://schemas.microsoft.com/office/drawing/2014/main" id="{8891766A-2BB8-F737-CBA1-F240033EF6B7}"/>
              </a:ext>
            </a:extLst>
          </p:cNvPr>
          <p:cNvSpPr/>
          <p:nvPr/>
        </p:nvSpPr>
        <p:spPr>
          <a:xfrm>
            <a:off x="8020740" y="2047508"/>
            <a:ext cx="292608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4" name="Shape 24">
            <a:extLst>
              <a:ext uri="{FF2B5EF4-FFF2-40B4-BE49-F238E27FC236}">
                <a16:creationId xmlns:a16="http://schemas.microsoft.com/office/drawing/2014/main" id="{2AF0B4C8-118E-F0BA-BBEB-6FBF2CAA2233}"/>
              </a:ext>
            </a:extLst>
          </p:cNvPr>
          <p:cNvSpPr/>
          <p:nvPr/>
        </p:nvSpPr>
        <p:spPr>
          <a:xfrm>
            <a:off x="8020740" y="2280680"/>
            <a:ext cx="91440" cy="91440"/>
          </a:xfrm>
          <a:prstGeom prst="ellipse">
            <a:avLst/>
          </a:prstGeom>
          <a:solidFill>
            <a:srgbClr val="6E5BFF"/>
          </a:solidFill>
          <a:ln w="12700">
            <a:solidFill>
              <a:srgbClr val="6E5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D4FCEDF1-38CB-DA03-C667-E3BF37C5794D}"/>
              </a:ext>
            </a:extLst>
          </p:cNvPr>
          <p:cNvSpPr/>
          <p:nvPr/>
        </p:nvSpPr>
        <p:spPr>
          <a:xfrm>
            <a:off x="8203620" y="22303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협업 기반 실행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56" name="Shape 26">
            <a:extLst>
              <a:ext uri="{FF2B5EF4-FFF2-40B4-BE49-F238E27FC236}">
                <a16:creationId xmlns:a16="http://schemas.microsoft.com/office/drawing/2014/main" id="{EEEEDE99-7DCA-8D6E-72CE-10375F546A37}"/>
              </a:ext>
            </a:extLst>
          </p:cNvPr>
          <p:cNvSpPr/>
          <p:nvPr/>
        </p:nvSpPr>
        <p:spPr>
          <a:xfrm>
            <a:off x="8020740" y="2756168"/>
            <a:ext cx="91440" cy="91440"/>
          </a:xfrm>
          <a:prstGeom prst="ellipse">
            <a:avLst/>
          </a:prstGeom>
          <a:solidFill>
            <a:srgbClr val="6E5BFF"/>
          </a:solidFill>
          <a:ln w="12700">
            <a:solidFill>
              <a:srgbClr val="6E5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B4F727D6-C4B9-FB7A-87A7-9B69027E3FB2}"/>
              </a:ext>
            </a:extLst>
          </p:cNvPr>
          <p:cNvSpPr/>
          <p:nvPr/>
        </p:nvSpPr>
        <p:spPr>
          <a:xfrm>
            <a:off x="8203620" y="27058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품질과 운영 관점 반영</a:t>
            </a:r>
            <a:endParaRPr lang="en-US" sz="1140" dirty="0">
              <a:solidFill>
                <a:schemeClr val="bg1"/>
              </a:solidFill>
            </a:endParaRPr>
          </a:p>
        </p:txBody>
      </p:sp>
      <p:sp>
        <p:nvSpPr>
          <p:cNvPr id="58" name="Shape 28">
            <a:extLst>
              <a:ext uri="{FF2B5EF4-FFF2-40B4-BE49-F238E27FC236}">
                <a16:creationId xmlns:a16="http://schemas.microsoft.com/office/drawing/2014/main" id="{5615AA30-BBA6-6F48-D178-0C5590E95E01}"/>
              </a:ext>
            </a:extLst>
          </p:cNvPr>
          <p:cNvSpPr/>
          <p:nvPr/>
        </p:nvSpPr>
        <p:spPr>
          <a:xfrm>
            <a:off x="8020740" y="3231656"/>
            <a:ext cx="91440" cy="91440"/>
          </a:xfrm>
          <a:prstGeom prst="ellipse">
            <a:avLst/>
          </a:prstGeom>
          <a:solidFill>
            <a:srgbClr val="6E5BFF"/>
          </a:solidFill>
          <a:ln w="12700">
            <a:solidFill>
              <a:srgbClr val="6E5BFF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9" name="Text 29">
            <a:extLst>
              <a:ext uri="{FF2B5EF4-FFF2-40B4-BE49-F238E27FC236}">
                <a16:creationId xmlns:a16="http://schemas.microsoft.com/office/drawing/2014/main" id="{06D86C70-B4DB-357D-A76D-0A873567D789}"/>
              </a:ext>
            </a:extLst>
          </p:cNvPr>
          <p:cNvSpPr/>
          <p:nvPr/>
        </p:nvSpPr>
        <p:spPr>
          <a:xfrm>
            <a:off x="8203620" y="31813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4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오픈 가능한 결과물 도출</a:t>
            </a:r>
            <a:endParaRPr lang="en-US" sz="114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393</Words>
  <Application>Microsoft Office PowerPoint</Application>
  <PresentationFormat>와이드스크린</PresentationFormat>
  <Paragraphs>122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최지웅 면접 발표 포트폴리오</dc:title>
  <dc:subject>면접 발표 포트폴리오</dc:subject>
  <dc:creator>OpenAI</dc:creator>
  <cp:lastModifiedBy>최지웅(Choi Jiwoong)(jwchoi23)</cp:lastModifiedBy>
  <cp:revision>10</cp:revision>
  <dcterms:created xsi:type="dcterms:W3CDTF">2026-03-18T13:47:46Z</dcterms:created>
  <dcterms:modified xsi:type="dcterms:W3CDTF">2026-03-18T22:54:07Z</dcterms:modified>
</cp:coreProperties>
</file>